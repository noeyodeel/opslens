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데이터 이상 탐지 및 AI 분석 자동화 플랫폼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요청에서 시작해 Queue/Worker 기반 비동기 분석, 검증 SQL, 대상별 리포트, 대시보드 확인까지 이어지는 백엔드 중심 포트폴리오 MVP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3127248"/>
            <a:ext cx="3566160" cy="329184"/>
          </a:xfrm>
          <a:prstGeom prst="roundRect">
            <a:avLst>
              <a:gd name="adj" fmla="val 13889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204972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개발 · 포트폴리오 MVP · Frontend Vercel 배포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04672" y="4754880"/>
            <a:ext cx="530352" cy="53035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539496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371600" y="5020056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792224" y="4754880"/>
            <a:ext cx="530352" cy="53035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8901" y="4871557"/>
            <a:ext cx="296997" cy="29699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00784" y="539496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2359152" y="5020056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779776" y="4754880"/>
            <a:ext cx="530352" cy="53035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6453" y="4871557"/>
            <a:ext cx="296997" cy="29699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88336" y="539496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RabbitMQ</a:t>
            </a:r>
            <a:endParaRPr lang="en-US" sz="720" dirty="0"/>
          </a:p>
        </p:txBody>
      </p:sp>
      <p:sp>
        <p:nvSpPr>
          <p:cNvPr id="18" name="Shape 14"/>
          <p:cNvSpPr/>
          <p:nvPr/>
        </p:nvSpPr>
        <p:spPr>
          <a:xfrm>
            <a:off x="3346704" y="5020056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767328" y="4754880"/>
            <a:ext cx="530352" cy="53035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4005" y="4871557"/>
            <a:ext cx="296997" cy="29699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75888" y="539496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</a:t>
            </a:r>
            <a:endParaRPr lang="en-US" sz="720" dirty="0"/>
          </a:p>
        </p:txBody>
      </p:sp>
      <p:sp>
        <p:nvSpPr>
          <p:cNvPr id="22" name="Shape 17"/>
          <p:cNvSpPr/>
          <p:nvPr/>
        </p:nvSpPr>
        <p:spPr>
          <a:xfrm>
            <a:off x="4334256" y="5020056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4754880" y="4754880"/>
            <a:ext cx="530352" cy="53035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1557" y="4871557"/>
            <a:ext cx="296997" cy="29699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63440" y="539496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720" dirty="0"/>
          </a:p>
        </p:txBody>
      </p:sp>
      <p:sp>
        <p:nvSpPr>
          <p:cNvPr id="26" name="Shape 20"/>
          <p:cNvSpPr/>
          <p:nvPr/>
        </p:nvSpPr>
        <p:spPr>
          <a:xfrm>
            <a:off x="5321808" y="5020056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742432" y="4754880"/>
            <a:ext cx="530352" cy="53035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59109" y="4871557"/>
            <a:ext cx="296997" cy="29699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650992" y="539496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  <a:endParaRPr lang="en-US" sz="720" dirty="0"/>
          </a:p>
        </p:txBody>
      </p:sp>
      <p:sp>
        <p:nvSpPr>
          <p:cNvPr id="30" name="Shape 23"/>
          <p:cNvSpPr/>
          <p:nvPr/>
        </p:nvSpPr>
        <p:spPr>
          <a:xfrm>
            <a:off x="7818120" y="777240"/>
            <a:ext cx="3611880" cy="4983480"/>
          </a:xfrm>
          <a:prstGeom prst="roundRect">
            <a:avLst>
              <a:gd name="adj" fmla="val 759"/>
            </a:avLst>
          </a:prstGeom>
          <a:solidFill>
            <a:srgbClr val="F8FAFC"/>
          </a:solidFill>
          <a:ln w="1016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183880" y="1115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Portfolio Story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8275320" y="1691640"/>
            <a:ext cx="246888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Overview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Background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Problem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Goal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Solution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Impact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Retrospect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731520" y="62362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Backend Portfolio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만들었고, 어떤 역할을 맡았는지 먼저 명확히 설명합니다.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716768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984248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6197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77440" y="1984248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기관 운영 데이터의 이상 징후를 탐지하고 Slack/대시보드로 분석 결과를 제공하는 서비스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716768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2990088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EAF8EF"/>
          </a:solidFill>
          <a:ln w="12700">
            <a:solidFill>
              <a:srgbClr val="EAF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06781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인원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77440" y="2990088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개발 프로젝트. 기획, 도메인 설계, 백엔드, 프론트엔드, Worker, 배포 시연 환경 구성까지 직접 수행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10716768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3995928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FFF4DB"/>
          </a:solidFill>
          <a:ln w="12700">
            <a:solidFill>
              <a:srgbClr val="FFF4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7365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기간/상태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77440" y="3995928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진행. 실제 상용 런칭 서비스가 아닌 포트폴리오용 MVP이며, Frontend는 Vercel에 배포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731520" y="4800600"/>
            <a:ext cx="10716768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5840" y="5001768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F4EEFF"/>
          </a:solidFill>
          <a:ln w="12700">
            <a:solidFill>
              <a:srgbClr val="F4E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0794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역할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77440" y="5001768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API, PostgreSQL 모델링, RabbitMQ 비동기 Job, Python Worker, React Dashboard, Slack 연동 구현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Background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배경: 운영 데이터 장애는 “찾는 일”부터 오래 걸립니다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포트폴리오를 보는 사람이 도메인을 몰라도 이해할 수 있도록 문제 상황을 풀어 설명합니다.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5074920" cy="3977640"/>
          </a:xfrm>
          <a:prstGeom prst="roundRect">
            <a:avLst>
              <a:gd name="adj" fmla="val 69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0848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51760"/>
            <a:ext cx="43434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외부 기관이 매일 진료/검증 데이터를 전송한다고 가정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특정 기관 데이터가 누락되거나, 전송량이 급감하거나, 필수값 NULL이 증가할 수 있음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이슈 발생 시 개발자는 수신 로그, 기준값, 현재 데이터, 영향 범위를 반복 확인해야 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57800" cy="3977640"/>
          </a:xfrm>
          <a:prstGeom prst="roundRect">
            <a:avLst>
              <a:gd name="adj" fmla="val 69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0848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용어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651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92440" y="26517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탐지된 운영 이상 이벤트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37960" y="32735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 Snapshot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92440" y="32735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기준값과 현재값 비교 지표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37960" y="38953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Job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92440" y="38953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요청으로 생성되는 비동기 분석 작업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37960" y="45171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 SQL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92440" y="45171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확인을 위한 읽기 전용 검증 쿼리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정의: 장애 원인을 찾고 설명하는 과정이 분산되어 있었습니다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운영 상황을 가정한 테스트 데이터와 시나리오로 반복 가능한 문제를 만들고 검증했습니다.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9808" y="1847088"/>
            <a:ext cx="3246120" cy="1874520"/>
          </a:xfrm>
          <a:prstGeom prst="roundRect">
            <a:avLst>
              <a:gd name="adj" fmla="val 1463"/>
            </a:avLst>
          </a:prstGeom>
          <a:solidFill>
            <a:srgbClr val="FEECE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0848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27048" y="2103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지연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24128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기관별 전송량, NULL 비율, 중복 키를 사람이 직접 비교해야 함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453128" y="1847088"/>
            <a:ext cx="3246120" cy="1874520"/>
          </a:xfrm>
          <a:prstGeom prst="roundRect">
            <a:avLst>
              <a:gd name="adj" fmla="val 1463"/>
            </a:avLst>
          </a:prstGeom>
          <a:solidFill>
            <a:srgbClr val="FFF4DB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0848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30368" y="2103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흐름 단절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27448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요청, 분석 실행, 결과 저장, 대시보드 확인이 하나의 흐름으로 연결되지 않음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156448" y="1847088"/>
            <a:ext cx="3246120" cy="1874520"/>
          </a:xfrm>
          <a:prstGeom prst="roundRect">
            <a:avLst>
              <a:gd name="adj" fmla="val 1463"/>
            </a:avLst>
          </a:prstGeom>
          <a:solidFill>
            <a:srgbClr val="F4EE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20848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33688" y="2103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 우려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30768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분석이 DB에 직접 접근하거나 위험한 SQL을 만들 가능성을 통제해야 함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914400" y="4343400"/>
            <a:ext cx="101498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34440" y="4599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456285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8일치 테스트 데이터와 4개 이상 시나리오를 만들고, 탐지 API → Incident 생성 → 분석 결과 저장 → 리포트 조회까지 E2E로 검증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Goal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운영 이슈의 1차 분석 흐름을 자동화한다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기준은 “예쁜 대시보드”가 아니라, 탐지부터 설명까지 실제 흐름이 연결되는지였습니다.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4983480" cy="106070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12140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21284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0" y="2048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3591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COUNT_DROP, NULL_SPIKE, DUPLICATE, SOURCE_MISSING을 재현하고 Incident로 저장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4983480" cy="106070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12140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21284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86600" y="2048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23591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요청을 즉시 접수하고 Queue/Worker로 분석을 분리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22960" y="3337560"/>
            <a:ext cx="4983480" cy="106070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363016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7216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557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86791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입력 Context 제한 및 SELECT-only 검증 SQL 정책 적용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263640" y="3337560"/>
            <a:ext cx="4983480" cy="106070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363016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7216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086600" y="3557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386791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개발자용/업무 담당자용 리포트를 분리해 같은 분석을 대상별로 설명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해결책: Slack에서 시작되는 비동기 AI 운영 분석 흐름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요청과 실제 분석 실행을 분리하고, 안전한 근거 데이터만 AI 분석 계층으로 전달했습니다.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1664208" cy="1828800"/>
          </a:xfrm>
          <a:prstGeom prst="roundRect">
            <a:avLst>
              <a:gd name="adj" fmla="val 1648"/>
            </a:avLst>
          </a:prstGeom>
          <a:solidFill>
            <a:srgbClr val="F4EE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221284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6151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요청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832104" y="303580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Incident 번호로 분석 요청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423160" y="292608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53512" y="2011680"/>
            <a:ext cx="1664208" cy="1828800"/>
          </a:xfrm>
          <a:prstGeom prst="roundRect">
            <a:avLst>
              <a:gd name="adj" fmla="val 1648"/>
            </a:avLst>
          </a:prstGeom>
          <a:solidFill>
            <a:srgbClr val="EAF8E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18104" y="221284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18104" y="26151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 저장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3099816" y="303580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API가 분석 Job 생성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690872" y="292608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21224" y="2011680"/>
            <a:ext cx="1664208" cy="1828800"/>
          </a:xfrm>
          <a:prstGeom prst="roundRect">
            <a:avLst>
              <a:gd name="adj" fmla="val 1648"/>
            </a:avLst>
          </a:prstGeom>
          <a:solidFill>
            <a:srgbClr val="FFF4DB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85816" y="221284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6151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Queue 발행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5367528" y="303580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RabbitMQ로 작업 전달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958584" y="292608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88936" y="2011680"/>
            <a:ext cx="1664208" cy="1828800"/>
          </a:xfrm>
          <a:prstGeom prst="roundRect">
            <a:avLst>
              <a:gd name="adj" fmla="val 1648"/>
            </a:avLst>
          </a:prstGeom>
          <a:solidFill>
            <a:srgbClr val="E6F7FB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53528" y="221284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53528" y="26151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분석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635240" y="303580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Worker가 분석 API 호출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226296" y="2926080"/>
            <a:ext cx="47548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56648" y="2011680"/>
            <a:ext cx="1664208" cy="1828800"/>
          </a:xfrm>
          <a:prstGeom prst="roundRect">
            <a:avLst>
              <a:gd name="adj" fmla="val 1648"/>
            </a:avLst>
          </a:prstGeom>
          <a:solidFill>
            <a:srgbClr val="EAF2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921240" y="221284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21240" y="261518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제공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9902952" y="303580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Slack과 Dashboard에서 결과 확인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1005840" y="4572000"/>
            <a:ext cx="1001268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325880" y="48280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선택 이유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4791456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처리보다 장애 대응 흐름에 가까우며, Job 상태 추적·실패 재처리·Slack 비동기 응답 구조를 포트폴리오에서 보여줄 수 있기 때문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기술의 역할이 보이도록 아이콘 기반으로 구성했습니다.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920240" cy="868680"/>
          </a:xfrm>
          <a:prstGeom prst="roundRect">
            <a:avLst>
              <a:gd name="adj" fmla="val 3158"/>
            </a:avLst>
          </a:prstGeom>
          <a:solidFill>
            <a:srgbClr val="F4EEFF"/>
          </a:solidFill>
          <a:ln w="10160">
            <a:solidFill>
              <a:srgbClr val="DDD6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1993392"/>
            <a:ext cx="475488" cy="47548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5608" y="2011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35608" y="23225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Slash Command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971800" y="1828800"/>
            <a:ext cx="2103120" cy="868680"/>
          </a:xfrm>
          <a:prstGeom prst="roundRect">
            <a:avLst>
              <a:gd name="adj" fmla="val 3158"/>
            </a:avLst>
          </a:prstGeom>
          <a:solidFill>
            <a:srgbClr val="FFF4DB"/>
          </a:solidFill>
          <a:ln w="10160">
            <a:solidFill>
              <a:srgbClr val="FED7A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36392" y="1993392"/>
            <a:ext cx="475488" cy="47548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0999" y="2097999"/>
            <a:ext cx="266273" cy="26627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21608" y="2011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Tunnel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721608" y="23225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API 공개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5486400" y="1444752"/>
            <a:ext cx="2331720" cy="868680"/>
          </a:xfrm>
          <a:prstGeom prst="roundRect">
            <a:avLst>
              <a:gd name="adj" fmla="val 3158"/>
            </a:avLst>
          </a:prstGeom>
          <a:solidFill>
            <a:srgbClr val="EAF8EF"/>
          </a:solidFill>
          <a:ln w="1016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50992" y="1609344"/>
            <a:ext cx="475488" cy="47548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5599" y="1713951"/>
            <a:ext cx="266273" cy="2662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36208" y="16276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API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236208" y="1938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/ Job / Report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8485632" y="896112"/>
            <a:ext cx="2240280" cy="868680"/>
          </a:xfrm>
          <a:prstGeom prst="roundRect">
            <a:avLst>
              <a:gd name="adj" fmla="val 3158"/>
            </a:avLst>
          </a:prstGeom>
          <a:solidFill>
            <a:srgbClr val="EAF2FF"/>
          </a:solidFill>
          <a:ln w="1016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650224" y="1060704"/>
            <a:ext cx="475488" cy="47548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4831" y="1165311"/>
            <a:ext cx="266273" cy="26627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35440" y="10789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9235440" y="13898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데이터 / 분석 결과</a:t>
            </a:r>
            <a:endParaRPr lang="en-US" sz="860" dirty="0"/>
          </a:p>
        </p:txBody>
      </p:sp>
      <p:sp>
        <p:nvSpPr>
          <p:cNvPr id="25" name="Shape 20"/>
          <p:cNvSpPr/>
          <p:nvPr/>
        </p:nvSpPr>
        <p:spPr>
          <a:xfrm>
            <a:off x="8485632" y="2121408"/>
            <a:ext cx="2240280" cy="868680"/>
          </a:xfrm>
          <a:prstGeom prst="roundRect">
            <a:avLst>
              <a:gd name="adj" fmla="val 3158"/>
            </a:avLst>
          </a:prstGeom>
          <a:solidFill>
            <a:srgbClr val="FFF4DB"/>
          </a:solidFill>
          <a:ln w="10160">
            <a:solidFill>
              <a:srgbClr val="FCD34D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650224" y="2286000"/>
            <a:ext cx="475488" cy="47548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4831" y="2390607"/>
            <a:ext cx="266273" cy="26627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35440" y="2304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RabbitMQ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9235440" y="261518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Job Queue</a:t>
            </a:r>
            <a:endParaRPr lang="en-US" sz="860" dirty="0"/>
          </a:p>
        </p:txBody>
      </p:sp>
      <p:sp>
        <p:nvSpPr>
          <p:cNvPr id="30" name="Shape 24"/>
          <p:cNvSpPr/>
          <p:nvPr/>
        </p:nvSpPr>
        <p:spPr>
          <a:xfrm>
            <a:off x="8485632" y="3346704"/>
            <a:ext cx="2240280" cy="868680"/>
          </a:xfrm>
          <a:prstGeom prst="roundRect">
            <a:avLst>
              <a:gd name="adj" fmla="val 3158"/>
            </a:avLst>
          </a:prstGeom>
          <a:solidFill>
            <a:srgbClr val="E6F7FB"/>
          </a:solidFill>
          <a:ln w="10160">
            <a:solidFill>
              <a:srgbClr val="A5F3FC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650224" y="3511296"/>
            <a:ext cx="475488" cy="47548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54831" y="3615903"/>
            <a:ext cx="266273" cy="26627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235440" y="352958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Worker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9235440" y="38404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분석 실행</a:t>
            </a:r>
            <a:endParaRPr lang="en-US" sz="860" dirty="0"/>
          </a:p>
        </p:txBody>
      </p:sp>
      <p:sp>
        <p:nvSpPr>
          <p:cNvPr id="35" name="Shape 28"/>
          <p:cNvSpPr/>
          <p:nvPr/>
        </p:nvSpPr>
        <p:spPr>
          <a:xfrm>
            <a:off x="685800" y="4343400"/>
            <a:ext cx="1920240" cy="868680"/>
          </a:xfrm>
          <a:prstGeom prst="roundRect">
            <a:avLst>
              <a:gd name="adj" fmla="val 3158"/>
            </a:avLst>
          </a:prstGeom>
          <a:solidFill>
            <a:srgbClr val="E6F7FB"/>
          </a:solidFill>
          <a:ln w="10160">
            <a:solidFill>
              <a:srgbClr val="A5F3FC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50392" y="4507992"/>
            <a:ext cx="475488" cy="47548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4999" y="4612599"/>
            <a:ext cx="266273" cy="26627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435608" y="4526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Dashboard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1435608" y="48371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/ Report UI</a:t>
            </a:r>
            <a:endParaRPr lang="en-US" sz="860" dirty="0"/>
          </a:p>
        </p:txBody>
      </p:sp>
      <p:sp>
        <p:nvSpPr>
          <p:cNvPr id="40" name="Shape 32"/>
          <p:cNvSpPr/>
          <p:nvPr/>
        </p:nvSpPr>
        <p:spPr>
          <a:xfrm>
            <a:off x="2971800" y="4343400"/>
            <a:ext cx="210312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3136392" y="4507992"/>
            <a:ext cx="475488" cy="47548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40999" y="4612599"/>
            <a:ext cx="266273" cy="266273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721608" y="45262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3721608" y="4837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배포</a:t>
            </a:r>
            <a:endParaRPr lang="en-US" sz="860" dirty="0"/>
          </a:p>
        </p:txBody>
      </p:sp>
      <p:sp>
        <p:nvSpPr>
          <p:cNvPr id="45" name="Shape 36"/>
          <p:cNvSpPr/>
          <p:nvPr/>
        </p:nvSpPr>
        <p:spPr>
          <a:xfrm>
            <a:off x="5486400" y="4343400"/>
            <a:ext cx="2331720" cy="868680"/>
          </a:xfrm>
          <a:prstGeom prst="roundRect">
            <a:avLst>
              <a:gd name="adj" fmla="val 3158"/>
            </a:avLst>
          </a:prstGeom>
          <a:solidFill>
            <a:srgbClr val="EEF6FF"/>
          </a:solidFill>
          <a:ln w="1016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5650992" y="4507992"/>
            <a:ext cx="475488" cy="47548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55599" y="4612599"/>
            <a:ext cx="266273" cy="266273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236208" y="4526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Compose</a:t>
            </a:r>
            <a:endParaRPr lang="en-US" sz="1150" dirty="0"/>
          </a:p>
        </p:txBody>
      </p:sp>
      <p:sp>
        <p:nvSpPr>
          <p:cNvPr id="49" name="Text 39"/>
          <p:cNvSpPr/>
          <p:nvPr/>
        </p:nvSpPr>
        <p:spPr>
          <a:xfrm>
            <a:off x="6236208" y="48371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/ Queue / Worker</a:t>
            </a:r>
            <a:endParaRPr lang="en-US" sz="860" dirty="0"/>
          </a:p>
        </p:txBody>
      </p:sp>
      <p:sp>
        <p:nvSpPr>
          <p:cNvPr id="50" name="Shape 40"/>
          <p:cNvSpPr/>
          <p:nvPr/>
        </p:nvSpPr>
        <p:spPr>
          <a:xfrm>
            <a:off x="2606040" y="2267712"/>
            <a:ext cx="36576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1" name="Shape 41"/>
          <p:cNvSpPr/>
          <p:nvPr/>
        </p:nvSpPr>
        <p:spPr>
          <a:xfrm>
            <a:off x="5074920" y="2267712"/>
            <a:ext cx="411480" cy="-384048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2" name="Shape 42"/>
          <p:cNvSpPr/>
          <p:nvPr/>
        </p:nvSpPr>
        <p:spPr>
          <a:xfrm>
            <a:off x="7818120" y="1810512"/>
            <a:ext cx="667512" cy="-484632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53" name="Shape 43"/>
          <p:cNvSpPr/>
          <p:nvPr/>
        </p:nvSpPr>
        <p:spPr>
          <a:xfrm>
            <a:off x="7818120" y="1938528"/>
            <a:ext cx="667512" cy="603504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4" name="Shape 44"/>
          <p:cNvSpPr/>
          <p:nvPr/>
        </p:nvSpPr>
        <p:spPr>
          <a:xfrm>
            <a:off x="9601200" y="2990088"/>
            <a:ext cx="0" cy="356616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5" name="Shape 45"/>
          <p:cNvSpPr/>
          <p:nvPr/>
        </p:nvSpPr>
        <p:spPr>
          <a:xfrm>
            <a:off x="8485632" y="3730752"/>
            <a:ext cx="-667512" cy="-1673352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56" name="Shape 46"/>
          <p:cNvSpPr/>
          <p:nvPr/>
        </p:nvSpPr>
        <p:spPr>
          <a:xfrm>
            <a:off x="2606040" y="4773168"/>
            <a:ext cx="3657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7" name="Shape 47"/>
          <p:cNvSpPr/>
          <p:nvPr/>
        </p:nvSpPr>
        <p:spPr>
          <a:xfrm>
            <a:off x="5074920" y="4773168"/>
            <a:ext cx="4114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8" name="Shape 48"/>
          <p:cNvSpPr/>
          <p:nvPr/>
        </p:nvSpPr>
        <p:spPr>
          <a:xfrm>
            <a:off x="6675120" y="4343400"/>
            <a:ext cx="0" cy="-2029968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9" name="Shape 49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61" name="Text 51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Data 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플로우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데이터 생성부터 분석 결과 제공까지 데이터가 이동하는 흐름입니다.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084832"/>
            <a:ext cx="1645920" cy="1243584"/>
          </a:xfrm>
          <a:prstGeom prst="roundRect">
            <a:avLst>
              <a:gd name="adj" fmla="val 2206"/>
            </a:avLst>
          </a:prstGeom>
          <a:solidFill>
            <a:srgbClr val="EAF2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22677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25786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데이터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28529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기관/진료/검증/수신 로그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386584" y="2715768"/>
            <a:ext cx="356616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88920" y="2084832"/>
            <a:ext cx="1645920" cy="1243584"/>
          </a:xfrm>
          <a:prstGeom prst="roundRect">
            <a:avLst>
              <a:gd name="adj" fmla="val 2206"/>
            </a:avLst>
          </a:prstGeom>
          <a:solidFill>
            <a:srgbClr val="FFF4DB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53512" y="22677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53512" y="25786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주입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53512" y="28529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미수신·급감·NULL·중복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489704" y="2715768"/>
            <a:ext cx="356616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92040" y="2084832"/>
            <a:ext cx="1645920" cy="1243584"/>
          </a:xfrm>
          <a:prstGeom prst="roundRect">
            <a:avLst>
              <a:gd name="adj" fmla="val 2206"/>
            </a:avLst>
          </a:prstGeom>
          <a:solidFill>
            <a:srgbClr val="EAF8E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56632" y="22677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56632" y="25786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실행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56632" y="28529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 기반 Incident 생성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592824" y="2715768"/>
            <a:ext cx="356616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95160" y="2084832"/>
            <a:ext cx="1645920" cy="1243584"/>
          </a:xfrm>
          <a:prstGeom prst="roundRect">
            <a:avLst>
              <a:gd name="adj" fmla="val 2206"/>
            </a:avLst>
          </a:prstGeom>
          <a:solidFill>
            <a:srgbClr val="F4EE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9752" y="22677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59752" y="25786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Context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59752" y="28529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근거 데이터 구성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695944" y="2715768"/>
            <a:ext cx="356616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98280" y="2084832"/>
            <a:ext cx="1645920" cy="1243584"/>
          </a:xfrm>
          <a:prstGeom prst="roundRect">
            <a:avLst>
              <a:gd name="adj" fmla="val 2206"/>
            </a:avLst>
          </a:prstGeom>
          <a:solidFill>
            <a:srgbClr val="E6F7FB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62872" y="226771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62872" y="25786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저장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262872" y="28529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/ Report 저장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828800" y="4343400"/>
            <a:ext cx="160020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975104" y="4526280"/>
            <a:ext cx="384048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0592" y="454456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2450592" y="4773168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요청 접수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3456432" y="4782312"/>
            <a:ext cx="859536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389120" y="4343400"/>
            <a:ext cx="160020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35424" y="4526280"/>
            <a:ext cx="384048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9915" y="4610771"/>
            <a:ext cx="215067" cy="215067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010912" y="454456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RabbitMQ</a:t>
            </a:r>
            <a:endParaRPr lang="en-US" sz="880" dirty="0"/>
          </a:p>
        </p:txBody>
      </p:sp>
      <p:sp>
        <p:nvSpPr>
          <p:cNvPr id="39" name="Text 36"/>
          <p:cNvSpPr/>
          <p:nvPr/>
        </p:nvSpPr>
        <p:spPr>
          <a:xfrm>
            <a:off x="5010912" y="4773168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 Message</a:t>
            </a:r>
            <a:endParaRPr lang="en-US" sz="680" dirty="0"/>
          </a:p>
        </p:txBody>
      </p:sp>
      <p:sp>
        <p:nvSpPr>
          <p:cNvPr id="40" name="Shape 37"/>
          <p:cNvSpPr/>
          <p:nvPr/>
        </p:nvSpPr>
        <p:spPr>
          <a:xfrm>
            <a:off x="6016752" y="4782312"/>
            <a:ext cx="859536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6949440" y="4343400"/>
            <a:ext cx="160020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7095744" y="4526280"/>
            <a:ext cx="384048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0235" y="4610771"/>
            <a:ext cx="215067" cy="215067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7571232" y="454456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</a:t>
            </a:r>
            <a:endParaRPr lang="en-US" sz="880" dirty="0"/>
          </a:p>
        </p:txBody>
      </p:sp>
      <p:sp>
        <p:nvSpPr>
          <p:cNvPr id="45" name="Text 41"/>
          <p:cNvSpPr/>
          <p:nvPr/>
        </p:nvSpPr>
        <p:spPr>
          <a:xfrm>
            <a:off x="7571232" y="4773168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실행</a:t>
            </a:r>
            <a:endParaRPr lang="en-US" sz="680" dirty="0"/>
          </a:p>
        </p:txBody>
      </p:sp>
      <p:sp>
        <p:nvSpPr>
          <p:cNvPr id="46" name="Shape 42"/>
          <p:cNvSpPr/>
          <p:nvPr/>
        </p:nvSpPr>
        <p:spPr>
          <a:xfrm>
            <a:off x="8577072" y="4782312"/>
            <a:ext cx="859536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9326880" y="4343400"/>
            <a:ext cx="160020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9473184" y="4526280"/>
            <a:ext cx="384048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57675" y="4610771"/>
            <a:ext cx="215067" cy="215067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9948672" y="454456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  <a:endParaRPr lang="en-US" sz="880" dirty="0"/>
          </a:p>
        </p:txBody>
      </p:sp>
      <p:sp>
        <p:nvSpPr>
          <p:cNvPr id="51" name="Text 46"/>
          <p:cNvSpPr/>
          <p:nvPr/>
        </p:nvSpPr>
        <p:spPr>
          <a:xfrm>
            <a:off x="9948672" y="4773168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</a:t>
            </a:r>
            <a:endParaRPr lang="en-US" sz="680" dirty="0"/>
          </a:p>
        </p:txBody>
      </p:sp>
      <p:sp>
        <p:nvSpPr>
          <p:cNvPr id="52" name="Shape 47"/>
          <p:cNvSpPr/>
          <p:nvPr/>
        </p:nvSpPr>
        <p:spPr>
          <a:xfrm>
            <a:off x="7818120" y="3328416"/>
            <a:ext cx="-91440" cy="101498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3" name="Shape 48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Sequence Diagram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분석 요청 시퀀스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요청을 빠르게 접수하고, 실제 분석은 Worker가 비동기로 수행합니다.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755648"/>
            <a:ext cx="914400" cy="4069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928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051560" y="2231136"/>
            <a:ext cx="0" cy="3401568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755648"/>
            <a:ext cx="914400" cy="40690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8928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468880" y="2231136"/>
            <a:ext cx="0" cy="3401568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755648"/>
            <a:ext cx="914400" cy="4069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8928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API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069080" y="2231136"/>
            <a:ext cx="0" cy="3401568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755648"/>
            <a:ext cx="914400" cy="40690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8928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5806440" y="2231136"/>
            <a:ext cx="0" cy="3401568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755648"/>
            <a:ext cx="914400" cy="4069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8928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RabbitMQ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7269480" y="2231136"/>
            <a:ext cx="0" cy="3401568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1755648"/>
            <a:ext cx="914400" cy="40690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18928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915400" y="2231136"/>
            <a:ext cx="0" cy="3401568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04120" y="1755648"/>
            <a:ext cx="914400" cy="4069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0" y="18928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0561320" y="2231136"/>
            <a:ext cx="0" cy="3401568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" y="2468880"/>
            <a:ext cx="1417320" cy="0"/>
          </a:xfrm>
          <a:prstGeom prst="line">
            <a:avLst/>
          </a:prstGeom>
          <a:noFill/>
          <a:ln w="1206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106424" y="2322576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/opslens analyze INC-...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2468880" y="2834640"/>
            <a:ext cx="1600200" cy="0"/>
          </a:xfrm>
          <a:prstGeom prst="line">
            <a:avLst/>
          </a:prstGeom>
          <a:noFill/>
          <a:ln w="1206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523744" y="2688336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/api/slack/commands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069080" y="3200400"/>
            <a:ext cx="1737360" cy="0"/>
          </a:xfrm>
          <a:prstGeom prst="line">
            <a:avLst/>
          </a:prstGeom>
          <a:noFill/>
          <a:ln w="1206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123944" y="3054096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analysis_job 저장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4069080" y="3566160"/>
            <a:ext cx="3200400" cy="0"/>
          </a:xfrm>
          <a:prstGeom prst="line">
            <a:avLst/>
          </a:prstGeom>
          <a:noFill/>
          <a:ln w="1206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123944" y="3419856"/>
            <a:ext cx="3145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 Message 발행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7269480" y="3931920"/>
            <a:ext cx="1645920" cy="0"/>
          </a:xfrm>
          <a:prstGeom prst="line">
            <a:avLst/>
          </a:prstGeom>
          <a:noFill/>
          <a:ln w="1206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324344" y="3785616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consume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8915400" y="4297680"/>
            <a:ext cx="-4846320" cy="0"/>
          </a:xfrm>
          <a:prstGeom prst="line">
            <a:avLst/>
          </a:prstGeom>
          <a:noFill/>
          <a:ln w="1206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123944" y="4151376"/>
            <a:ext cx="4791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 API 호출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4069080" y="4663440"/>
            <a:ext cx="1737360" cy="0"/>
          </a:xfrm>
          <a:prstGeom prst="line">
            <a:avLst/>
          </a:prstGeom>
          <a:noFill/>
          <a:ln w="1206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123944" y="4517136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analysis/report 저장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8915400" y="5029200"/>
            <a:ext cx="-6446520" cy="0"/>
          </a:xfrm>
          <a:prstGeom prst="line">
            <a:avLst/>
          </a:prstGeom>
          <a:noFill/>
          <a:ln w="12065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2523744" y="4882896"/>
            <a:ext cx="6391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response_url 완료 메시지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1051560" y="5440680"/>
            <a:ext cx="9509760" cy="0"/>
          </a:xfrm>
          <a:prstGeom prst="line">
            <a:avLst/>
          </a:prstGeom>
          <a:noFill/>
          <a:ln w="1206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106424" y="5294376"/>
            <a:ext cx="9454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결과 확인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Problem &amp; Solve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1. Slack 요청과 분석 실행을 동기 처리하면 지연된다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발견한 지점, 선택한 해결 방식, 구현 후 결과가 한눈에 보이도록 정리했습니다.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46120" cy="3337560"/>
          </a:xfrm>
          <a:prstGeom prst="roundRect">
            <a:avLst>
              <a:gd name="adj" fmla="val 845"/>
            </a:avLst>
          </a:prstGeom>
          <a:solidFill>
            <a:srgbClr val="FEECE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0704" y="2743200"/>
            <a:ext cx="26060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Slack Slash Command는 빠른 응답이 필요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분석 로직이 길어지면 사용자 대기와 타임아웃 가능성 발생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246120" cy="3337560"/>
          </a:xfrm>
          <a:prstGeom prst="roundRect">
            <a:avLst>
              <a:gd name="adj" fmla="val 845"/>
            </a:avLst>
          </a:prstGeom>
          <a:solidFill>
            <a:srgbClr val="EAF2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64024" y="2743200"/>
            <a:ext cx="26060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analysis_job을 먼저 저장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트랜잭션 커밋 후 RabbitMQ에 Job 발행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Worker가 비동기로 분석 실행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246120" cy="3337560"/>
          </a:xfrm>
          <a:prstGeom prst="roundRect">
            <a:avLst>
              <a:gd name="adj" fmla="val 845"/>
            </a:avLst>
          </a:prstGeom>
          <a:solidFill>
            <a:srgbClr val="EAF8E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67344" y="2743200"/>
            <a:ext cx="26060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요청 접수와 분석 실행 분리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Job 상태(PENDING/RUNNING/SUCCEEDED/FAILED) 추적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Slack response_url로 완료 메시지 전달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Problem &amp; Solve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2. AI 분석이 원본 DB에 직접 접근하면 위험하다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발견한 지점, 선택한 해결 방식, 구현 후 결과가 한눈에 보이도록 정리했습니다.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46120" cy="3337560"/>
          </a:xfrm>
          <a:prstGeom prst="roundRect">
            <a:avLst>
              <a:gd name="adj" fmla="val 845"/>
            </a:avLst>
          </a:prstGeom>
          <a:solidFill>
            <a:srgbClr val="FEECE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0704" y="2743200"/>
            <a:ext cx="26060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AI에게 전체 DB 접근을 열면 민감 데이터 노출 가능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UPDATE/DELETE/DROP 등 위험 SQL 생성 가능성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246120" cy="3337560"/>
          </a:xfrm>
          <a:prstGeom prst="roundRect">
            <a:avLst>
              <a:gd name="adj" fmla="val 845"/>
            </a:avLst>
          </a:prstGeom>
          <a:solidFill>
            <a:srgbClr val="EAF2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64024" y="2743200"/>
            <a:ext cx="26060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Incident/Metric/Ingestion Log 중심 제한 Context 구성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SQL Safety Validator로 SELECT/WITH만 허용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검증 SQL은 실행이 아닌 리뷰 대상으로 저장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246120" cy="3337560"/>
          </a:xfrm>
          <a:prstGeom prst="roundRect">
            <a:avLst>
              <a:gd name="adj" fmla="val 845"/>
            </a:avLst>
          </a:prstGeom>
          <a:solidFill>
            <a:srgbClr val="EAF8E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67344" y="2743200"/>
            <a:ext cx="26060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분석 근거를 필요한 범위로 제한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 변경 쿼리 차단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safe 여부와 사유를 함께 확인 가능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Problem &amp; Solve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3. 같은 장애도 대상별 설명 방식이 다르다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발견한 지점, 선택한 해결 방식, 구현 후 결과가 한눈에 보이도록 정리했습니다.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46120" cy="3337560"/>
          </a:xfrm>
          <a:prstGeom prst="roundRect">
            <a:avLst>
              <a:gd name="adj" fmla="val 845"/>
            </a:avLst>
          </a:prstGeom>
          <a:solidFill>
            <a:srgbClr val="FEECE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0704" y="2743200"/>
            <a:ext cx="26060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개발자는 원인 후보와 SQL 근거가 필요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업무 담당자는 영향 범위와 조치 여부가 중요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246120" cy="3337560"/>
          </a:xfrm>
          <a:prstGeom prst="roundRect">
            <a:avLst>
              <a:gd name="adj" fmla="val 845"/>
            </a:avLst>
          </a:prstGeom>
          <a:solidFill>
            <a:srgbClr val="EAF2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64024" y="2743200"/>
            <a:ext cx="26060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동일 AnalysisResult를 기반으로 리포트 타입 분리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DEVELOPER 리포트에는 SQL/기술 체크 포함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BUSINESS 리포트에는 영향도와 현재 상태 중심 정리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246120" cy="3337560"/>
          </a:xfrm>
          <a:prstGeom prst="roundRect">
            <a:avLst>
              <a:gd name="adj" fmla="val 845"/>
            </a:avLst>
          </a:prstGeom>
          <a:solidFill>
            <a:srgbClr val="EAF8E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67344" y="2743200"/>
            <a:ext cx="260604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기술 진단과 업무 커뮤니케이션을 동시에 지원</a:t>
            </a:r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설명 재작성 비용 감소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대시보드에서 리포트 생성/조회 가능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Impact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목표와 연결해 검증한 결과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 지표를 과장하지 않고, MVP에서 실제로 검증한 기술적 결과를 중심으로 정리했습니다.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2057400" cy="960120"/>
          </a:xfrm>
          <a:prstGeom prst="roundRect">
            <a:avLst>
              <a:gd name="adj" fmla="val 2857"/>
            </a:avLst>
          </a:prstGeom>
          <a:solidFill>
            <a:srgbClr val="EAF2FF"/>
          </a:solidFill>
          <a:ln w="10160">
            <a:solidFill>
              <a:srgbClr val="EAF2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9933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tests passed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057400" cy="960120"/>
          </a:xfrm>
          <a:prstGeom prst="roundRect">
            <a:avLst>
              <a:gd name="adj" fmla="val 2857"/>
            </a:avLst>
          </a:prstGeom>
          <a:solidFill>
            <a:srgbClr val="EAF8EF"/>
          </a:solidFill>
          <a:ln w="10160">
            <a:solidFill>
              <a:srgbClr val="EAF8E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9933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24231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build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623560" y="1828800"/>
            <a:ext cx="2423160" cy="960120"/>
          </a:xfrm>
          <a:prstGeom prst="roundRect">
            <a:avLst>
              <a:gd name="adj" fmla="val 2857"/>
            </a:avLst>
          </a:prstGeom>
          <a:solidFill>
            <a:srgbClr val="FFF4DB"/>
          </a:solidFill>
          <a:ln w="10160">
            <a:solidFill>
              <a:srgbClr val="FFF4D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19933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SUCCEEDED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760720" y="24231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→ Queue → Worker Job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366760" y="1828800"/>
            <a:ext cx="2057400" cy="960120"/>
          </a:xfrm>
          <a:prstGeom prst="roundRect">
            <a:avLst>
              <a:gd name="adj" fmla="val 2857"/>
            </a:avLst>
          </a:prstGeom>
          <a:solidFill>
            <a:srgbClr val="F4EEFF"/>
          </a:solidFill>
          <a:ln w="10160">
            <a:solidFill>
              <a:srgbClr val="F4EE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0" y="19933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24231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Anomaly scenarios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914400" y="3657600"/>
            <a:ext cx="4983480" cy="123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07008" y="3931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검증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25296" y="4315968"/>
            <a:ext cx="41605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테스트/빌드 성공</a:t>
            </a:r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비동기 Job 성공 상태 확인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탐지→분석→저장→리포트 조회 흐름 검증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263640" y="3657600"/>
            <a:ext cx="4983480" cy="123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56248" y="3931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 효과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74536" y="4315968"/>
            <a:ext cx="41605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운영 이슈 대응 플로우를 하나의 서비스로 연결</a:t>
            </a:r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백엔드 설계·비동기 처리·AI 안전장치를 함께 보여줌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면접에서 구조 설명이 쉬운 포트폴리오 소재 확보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· Screenshots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캡처본 추가 필요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4개 화면은 실제 캡처로 교체하면 포트폴리오 완성도가 크게 올라갑니다.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4892040" cy="141732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SCREENSHOT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238658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76148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목록, 상태 필터, 요약 지표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4892040" cy="141732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1168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SCREENSHOT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537960" y="238658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Detail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76148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baseline/current/change rate 지표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4892040" cy="141732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SCREENSHOT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" y="426110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Analysis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63600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후보, 검증 SQL, safe 여부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4892040" cy="141732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88620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SCREENSHOT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37960" y="426110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Result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63600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/opslens analyze 요청과 완료 응답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· Retrospect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프로젝트를 통해 배운 점과 다음 개선 방향입니다.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73552" cy="3337560"/>
          </a:xfrm>
          <a:prstGeom prst="roundRect">
            <a:avLst>
              <a:gd name="adj" fmla="val 838"/>
            </a:avLst>
          </a:prstGeom>
          <a:solidFill>
            <a:srgbClr val="FEECEC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아쉬웠던 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743200"/>
            <a:ext cx="260604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실제 LLM API/LangGraph까지 연결하지 못하고 Mock 분석으로 범위를 제한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상시 배포 환경이 아니라 로컬 백엔드+터널 기반 시연 구조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62272" y="1828800"/>
            <a:ext cx="3273552" cy="3337560"/>
          </a:xfrm>
          <a:prstGeom prst="roundRect">
            <a:avLst>
              <a:gd name="adj" fmla="val 838"/>
            </a:avLst>
          </a:prstGeom>
          <a:solidFill>
            <a:srgbClr val="EAF2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36592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9744" y="2743200"/>
            <a:ext cx="260604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기능보다 먼저 안정적인 데이터 흐름과 Job 상태 관리가 중요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운영 분석은 기술 결과뿐 아니라 대상별 커뮤니케이션 설계가 필요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93024" y="1828800"/>
            <a:ext cx="3273552" cy="3337560"/>
          </a:xfrm>
          <a:prstGeom prst="roundRect">
            <a:avLst>
              <a:gd name="adj" fmla="val 838"/>
            </a:avLst>
          </a:prstGeom>
          <a:solidFill>
            <a:srgbClr val="EAF8E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67344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한다면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40496" y="2743200"/>
            <a:ext cx="260604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Slack Signing Secret 검증과 인증/권한 추가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Worker 클라우드 배포 및 재시도/Dead Letter Queue 구성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실제 LLM + VectorDB 기반 원인 분석 고도화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51052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 Portfolio Case Study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082528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68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OpsLens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이슈를 탐지하고, 분석하고, 설명하는 백엔드 중심 자동화 프로젝트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3886200"/>
            <a:ext cx="2971800" cy="1051560"/>
          </a:xfrm>
          <a:prstGeom prst="roundRect">
            <a:avLst>
              <a:gd name="adj" fmla="val 26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4133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설계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448056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데이터, Incident, Analysis Job, Report 모델링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526280" y="3886200"/>
            <a:ext cx="2971800" cy="1051560"/>
          </a:xfrm>
          <a:prstGeom prst="roundRect">
            <a:avLst>
              <a:gd name="adj" fmla="val 26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45736" y="4133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처리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448056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요청과 분석 실행을 Queue/Worker로 분리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8183880" y="3886200"/>
            <a:ext cx="2971800" cy="1051560"/>
          </a:xfrm>
          <a:prstGeom prst="roundRect">
            <a:avLst>
              <a:gd name="adj" fmla="val 26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3336" y="4133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안전장치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448056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Context와 SELECT-only SQL 검증 적용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822960" y="630936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Icons: Simple Icons CDN / Presentation generated with pptxgenjs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OpsLens Portfolio</dc:title>
  <dc:subject>OpsLens portfolio case study</dc:subject>
  <dc:creator>sko804</dc:creator>
  <cp:lastModifiedBy>sko804</cp:lastModifiedBy>
  <cp:revision>1</cp:revision>
  <dcterms:created xsi:type="dcterms:W3CDTF">2026-09-19T15:47:43Z</dcterms:created>
  <dcterms:modified xsi:type="dcterms:W3CDTF">2026-09-19T15:47:43Z</dcterms:modified>
</cp:coreProperties>
</file>